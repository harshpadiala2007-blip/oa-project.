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8E283E-420F-4945-A895-BA4E51A0F818}">
          <p14:sldIdLst>
            <p14:sldId id="256"/>
            <p14:sldId id="257"/>
            <p14:sldId id="258"/>
            <p14:sldId id="259"/>
            <p14:sldId id="260"/>
            <p14:sldId id="262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176635</c:v>
                </c:pt>
                <c:pt idx="1">
                  <c:v>456213</c:v>
                </c:pt>
                <c:pt idx="2">
                  <c:v>591457</c:v>
                </c:pt>
                <c:pt idx="3" formatCode="General">
                  <c:v>746719</c:v>
                </c:pt>
                <c:pt idx="4" formatCode="General">
                  <c:v>945321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D3-41A7-B11B-425684BD1B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44529615"/>
        <c:axId val="944527695"/>
        <c:axId val="0"/>
      </c:bar3DChart>
      <c:catAx>
        <c:axId val="944529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4527695"/>
        <c:crosses val="autoZero"/>
        <c:auto val="1"/>
        <c:lblAlgn val="ctr"/>
        <c:lblOffset val="100"/>
        <c:noMultiLvlLbl val="0"/>
      </c:catAx>
      <c:valAx>
        <c:axId val="944527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4529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18B7BA-64C2-4F72-B881-2C8228D273CC}" type="doc">
      <dgm:prSet loTypeId="urn:diagrams.loki3.com/BracketList" loCatId="officeonlin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7A2092E6-DB9C-4237-9540-6B78F22EB727}">
      <dgm:prSet phldrT="[Text]" phldr="0"/>
      <dgm:spPr/>
      <dgm:t>
        <a:bodyPr/>
        <a:lstStyle/>
        <a:p>
          <a:r>
            <a:rPr lang="en-IN" dirty="0"/>
            <a:t>1</a:t>
          </a:r>
          <a:r>
            <a:rPr lang="en-IN" baseline="30000" dirty="0"/>
            <a:t>st</a:t>
          </a:r>
          <a:r>
            <a:rPr lang="en-IN" dirty="0"/>
            <a:t> </a:t>
          </a:r>
        </a:p>
      </dgm:t>
    </dgm:pt>
    <dgm:pt modelId="{B13B1429-1723-4636-A1C1-DF1EDB50A06A}" type="parTrans" cxnId="{ED54873E-DF5C-4105-8343-2965C79097FD}">
      <dgm:prSet/>
      <dgm:spPr/>
      <dgm:t>
        <a:bodyPr/>
        <a:lstStyle/>
        <a:p>
          <a:endParaRPr lang="en-IN"/>
        </a:p>
      </dgm:t>
    </dgm:pt>
    <dgm:pt modelId="{45ADCC46-123A-4080-A208-07E645E25766}" type="sibTrans" cxnId="{ED54873E-DF5C-4105-8343-2965C79097FD}">
      <dgm:prSet/>
      <dgm:spPr/>
      <dgm:t>
        <a:bodyPr/>
        <a:lstStyle/>
        <a:p>
          <a:endParaRPr lang="en-IN"/>
        </a:p>
      </dgm:t>
    </dgm:pt>
    <dgm:pt modelId="{92C3E1C9-96F3-4895-8708-EA5FC917AB74}">
      <dgm:prSet phldrT="[Text]" phldr="0" custT="1"/>
      <dgm:spPr/>
      <dgm:t>
        <a:bodyPr/>
        <a:lstStyle/>
        <a:p>
          <a:r>
            <a:rPr lang="en-IN" sz="2000" dirty="0"/>
            <a:t>Cybersecurity isn’t just an IT issue – it’s everyone’s responsibility.</a:t>
          </a:r>
        </a:p>
      </dgm:t>
    </dgm:pt>
    <dgm:pt modelId="{B36376D7-EF25-40FA-A862-9367629C7273}" type="parTrans" cxnId="{75F16C8D-5197-4044-8EA9-A1EB6C8BF3E9}">
      <dgm:prSet/>
      <dgm:spPr/>
      <dgm:t>
        <a:bodyPr/>
        <a:lstStyle/>
        <a:p>
          <a:endParaRPr lang="en-IN"/>
        </a:p>
      </dgm:t>
    </dgm:pt>
    <dgm:pt modelId="{F5CB041C-01D1-46C0-B085-B9B11B25BF41}" type="sibTrans" cxnId="{75F16C8D-5197-4044-8EA9-A1EB6C8BF3E9}">
      <dgm:prSet/>
      <dgm:spPr/>
      <dgm:t>
        <a:bodyPr/>
        <a:lstStyle/>
        <a:p>
          <a:endParaRPr lang="en-IN"/>
        </a:p>
      </dgm:t>
    </dgm:pt>
    <dgm:pt modelId="{8887F988-3F35-423C-B9A0-DE5A419AF85F}">
      <dgm:prSet phldrT="[Text]" phldr="0"/>
      <dgm:spPr/>
      <dgm:t>
        <a:bodyPr/>
        <a:lstStyle/>
        <a:p>
          <a:r>
            <a:rPr lang="en-IN" dirty="0"/>
            <a:t>2</a:t>
          </a:r>
          <a:r>
            <a:rPr lang="en-IN" baseline="30000" dirty="0"/>
            <a:t>nd</a:t>
          </a:r>
          <a:r>
            <a:rPr lang="en-IN" dirty="0"/>
            <a:t> </a:t>
          </a:r>
        </a:p>
      </dgm:t>
    </dgm:pt>
    <dgm:pt modelId="{FE2A81CD-3BB8-4003-8C63-3B3DDB511D99}" type="parTrans" cxnId="{5DBC562B-0648-435B-B249-D04EBEDCE3CB}">
      <dgm:prSet/>
      <dgm:spPr/>
      <dgm:t>
        <a:bodyPr/>
        <a:lstStyle/>
        <a:p>
          <a:endParaRPr lang="en-IN"/>
        </a:p>
      </dgm:t>
    </dgm:pt>
    <dgm:pt modelId="{BE05801D-CF6B-4A95-BF5B-4FE9366CADE6}" type="sibTrans" cxnId="{5DBC562B-0648-435B-B249-D04EBEDCE3CB}">
      <dgm:prSet/>
      <dgm:spPr/>
      <dgm:t>
        <a:bodyPr/>
        <a:lstStyle/>
        <a:p>
          <a:endParaRPr lang="en-IN"/>
        </a:p>
      </dgm:t>
    </dgm:pt>
    <dgm:pt modelId="{92B78D7D-6396-4C5B-8F4B-5F3E9D482C33}">
      <dgm:prSet phldrT="[Text]" phldr="0" custT="1"/>
      <dgm:spPr/>
      <dgm:t>
        <a:bodyPr/>
        <a:lstStyle/>
        <a:p>
          <a:r>
            <a:rPr lang="en-IN" sz="2000" dirty="0"/>
            <a:t>By staying informed and alert, individuals can stop cyber threats before they spread. </a:t>
          </a:r>
          <a:r>
            <a:rPr lang="en-IN" sz="6600" dirty="0"/>
            <a:t> </a:t>
          </a:r>
        </a:p>
      </dgm:t>
    </dgm:pt>
    <dgm:pt modelId="{6023B8C2-F184-435E-8D96-0EE7146B95DC}" type="parTrans" cxnId="{1A79B760-F247-44A1-A50C-A562B28BBDAA}">
      <dgm:prSet/>
      <dgm:spPr/>
      <dgm:t>
        <a:bodyPr/>
        <a:lstStyle/>
        <a:p>
          <a:endParaRPr lang="en-IN"/>
        </a:p>
      </dgm:t>
    </dgm:pt>
    <dgm:pt modelId="{D628EA09-8DD1-41C5-84E9-07D1FDAF017E}" type="sibTrans" cxnId="{1A79B760-F247-44A1-A50C-A562B28BBDAA}">
      <dgm:prSet/>
      <dgm:spPr/>
      <dgm:t>
        <a:bodyPr/>
        <a:lstStyle/>
        <a:p>
          <a:endParaRPr lang="en-IN"/>
        </a:p>
      </dgm:t>
    </dgm:pt>
    <dgm:pt modelId="{7E69FA9B-2C1D-4DEC-A653-8E4EBEEBB3AD}" type="pres">
      <dgm:prSet presAssocID="{3118B7BA-64C2-4F72-B881-2C8228D273CC}" presName="Name0" presStyleCnt="0">
        <dgm:presLayoutVars>
          <dgm:dir/>
          <dgm:animLvl val="lvl"/>
          <dgm:resizeHandles val="exact"/>
        </dgm:presLayoutVars>
      </dgm:prSet>
      <dgm:spPr/>
    </dgm:pt>
    <dgm:pt modelId="{52D73978-32CD-40BE-9B8F-42B65844871A}" type="pres">
      <dgm:prSet presAssocID="{7A2092E6-DB9C-4237-9540-6B78F22EB727}" presName="linNode" presStyleCnt="0"/>
      <dgm:spPr/>
    </dgm:pt>
    <dgm:pt modelId="{9DD0F420-12BA-4598-80A1-22F5C700AADF}" type="pres">
      <dgm:prSet presAssocID="{7A2092E6-DB9C-4237-9540-6B78F22EB727}" presName="parTx" presStyleLbl="revTx" presStyleIdx="0" presStyleCnt="2">
        <dgm:presLayoutVars>
          <dgm:chMax val="1"/>
          <dgm:bulletEnabled val="1"/>
        </dgm:presLayoutVars>
      </dgm:prSet>
      <dgm:spPr/>
    </dgm:pt>
    <dgm:pt modelId="{88B0842C-E18F-49C8-A26F-59C3D2DFA10A}" type="pres">
      <dgm:prSet presAssocID="{7A2092E6-DB9C-4237-9540-6B78F22EB727}" presName="bracket" presStyleLbl="parChTrans1D1" presStyleIdx="0" presStyleCnt="2"/>
      <dgm:spPr/>
    </dgm:pt>
    <dgm:pt modelId="{B99E6CA0-DB7E-4DF2-8750-610828CA7E71}" type="pres">
      <dgm:prSet presAssocID="{7A2092E6-DB9C-4237-9540-6B78F22EB727}" presName="spH" presStyleCnt="0"/>
      <dgm:spPr/>
    </dgm:pt>
    <dgm:pt modelId="{9447EB2E-01DB-438A-BEDC-9CD192E3A7CF}" type="pres">
      <dgm:prSet presAssocID="{7A2092E6-DB9C-4237-9540-6B78F22EB727}" presName="desTx" presStyleLbl="node1" presStyleIdx="0" presStyleCnt="2" custLinFactX="-613" custLinFactNeighborX="-100000">
        <dgm:presLayoutVars>
          <dgm:bulletEnabled val="1"/>
        </dgm:presLayoutVars>
      </dgm:prSet>
      <dgm:spPr/>
    </dgm:pt>
    <dgm:pt modelId="{B303686B-C1A9-46E5-96DC-8C4B397B0178}" type="pres">
      <dgm:prSet presAssocID="{45ADCC46-123A-4080-A208-07E645E25766}" presName="spV" presStyleCnt="0"/>
      <dgm:spPr/>
    </dgm:pt>
    <dgm:pt modelId="{29223BFA-8EF8-4794-A3B5-8FBDEE263759}" type="pres">
      <dgm:prSet presAssocID="{8887F988-3F35-423C-B9A0-DE5A419AF85F}" presName="linNode" presStyleCnt="0"/>
      <dgm:spPr/>
    </dgm:pt>
    <dgm:pt modelId="{2D639D2D-582C-4382-9831-1DF0479E9566}" type="pres">
      <dgm:prSet presAssocID="{8887F988-3F35-423C-B9A0-DE5A419AF85F}" presName="parTx" presStyleLbl="revTx" presStyleIdx="1" presStyleCnt="2">
        <dgm:presLayoutVars>
          <dgm:chMax val="1"/>
          <dgm:bulletEnabled val="1"/>
        </dgm:presLayoutVars>
      </dgm:prSet>
      <dgm:spPr/>
    </dgm:pt>
    <dgm:pt modelId="{C73C591F-58BD-42FD-80BA-A5809BF2A82E}" type="pres">
      <dgm:prSet presAssocID="{8887F988-3F35-423C-B9A0-DE5A419AF85F}" presName="bracket" presStyleLbl="parChTrans1D1" presStyleIdx="1" presStyleCnt="2"/>
      <dgm:spPr/>
    </dgm:pt>
    <dgm:pt modelId="{E93AA8A7-39AF-470A-BD61-DC219C32942C}" type="pres">
      <dgm:prSet presAssocID="{8887F988-3F35-423C-B9A0-DE5A419AF85F}" presName="spH" presStyleCnt="0"/>
      <dgm:spPr/>
    </dgm:pt>
    <dgm:pt modelId="{9DD69603-33CE-4FD7-85AD-BA35E246FB9D}" type="pres">
      <dgm:prSet presAssocID="{8887F988-3F35-423C-B9A0-DE5A419AF85F}" presName="desTx" presStyleLbl="node1" presStyleIdx="1" presStyleCnt="2" custLinFactX="-476" custLinFactNeighborX="-100000" custLinFactNeighborY="2927">
        <dgm:presLayoutVars>
          <dgm:bulletEnabled val="1"/>
        </dgm:presLayoutVars>
      </dgm:prSet>
      <dgm:spPr/>
    </dgm:pt>
  </dgm:ptLst>
  <dgm:cxnLst>
    <dgm:cxn modelId="{D726961C-4F12-4D03-A227-037E2236E50E}" type="presOf" srcId="{92B78D7D-6396-4C5B-8F4B-5F3E9D482C33}" destId="{9DD69603-33CE-4FD7-85AD-BA35E246FB9D}" srcOrd="0" destOrd="0" presId="urn:diagrams.loki3.com/BracketList"/>
    <dgm:cxn modelId="{5DBC562B-0648-435B-B249-D04EBEDCE3CB}" srcId="{3118B7BA-64C2-4F72-B881-2C8228D273CC}" destId="{8887F988-3F35-423C-B9A0-DE5A419AF85F}" srcOrd="1" destOrd="0" parTransId="{FE2A81CD-3BB8-4003-8C63-3B3DDB511D99}" sibTransId="{BE05801D-CF6B-4A95-BF5B-4FE9366CADE6}"/>
    <dgm:cxn modelId="{ED54873E-DF5C-4105-8343-2965C79097FD}" srcId="{3118B7BA-64C2-4F72-B881-2C8228D273CC}" destId="{7A2092E6-DB9C-4237-9540-6B78F22EB727}" srcOrd="0" destOrd="0" parTransId="{B13B1429-1723-4636-A1C1-DF1EDB50A06A}" sibTransId="{45ADCC46-123A-4080-A208-07E645E25766}"/>
    <dgm:cxn modelId="{1A79B760-F247-44A1-A50C-A562B28BBDAA}" srcId="{8887F988-3F35-423C-B9A0-DE5A419AF85F}" destId="{92B78D7D-6396-4C5B-8F4B-5F3E9D482C33}" srcOrd="0" destOrd="0" parTransId="{6023B8C2-F184-435E-8D96-0EE7146B95DC}" sibTransId="{D628EA09-8DD1-41C5-84E9-07D1FDAF017E}"/>
    <dgm:cxn modelId="{75F16C8D-5197-4044-8EA9-A1EB6C8BF3E9}" srcId="{7A2092E6-DB9C-4237-9540-6B78F22EB727}" destId="{92C3E1C9-96F3-4895-8708-EA5FC917AB74}" srcOrd="0" destOrd="0" parTransId="{B36376D7-EF25-40FA-A862-9367629C7273}" sibTransId="{F5CB041C-01D1-46C0-B085-B9B11B25BF41}"/>
    <dgm:cxn modelId="{F9D22FB3-9373-43AA-804E-568D6F30A30E}" type="presOf" srcId="{7A2092E6-DB9C-4237-9540-6B78F22EB727}" destId="{9DD0F420-12BA-4598-80A1-22F5C700AADF}" srcOrd="0" destOrd="0" presId="urn:diagrams.loki3.com/BracketList"/>
    <dgm:cxn modelId="{695CF6D4-5B69-41CE-B161-69DD661A795D}" type="presOf" srcId="{8887F988-3F35-423C-B9A0-DE5A419AF85F}" destId="{2D639D2D-582C-4382-9831-1DF0479E9566}" srcOrd="0" destOrd="0" presId="urn:diagrams.loki3.com/BracketList"/>
    <dgm:cxn modelId="{29ABBDEA-8C89-4543-B654-971FE38992FC}" type="presOf" srcId="{92C3E1C9-96F3-4895-8708-EA5FC917AB74}" destId="{9447EB2E-01DB-438A-BEDC-9CD192E3A7CF}" srcOrd="0" destOrd="0" presId="urn:diagrams.loki3.com/BracketList"/>
    <dgm:cxn modelId="{7704D0F2-E668-44B9-B63B-D5F14FC45C6D}" type="presOf" srcId="{3118B7BA-64C2-4F72-B881-2C8228D273CC}" destId="{7E69FA9B-2C1D-4DEC-A653-8E4EBEEBB3AD}" srcOrd="0" destOrd="0" presId="urn:diagrams.loki3.com/BracketList"/>
    <dgm:cxn modelId="{1D55B41F-4FFC-4E5B-B7BD-9CC28C04181E}" type="presParOf" srcId="{7E69FA9B-2C1D-4DEC-A653-8E4EBEEBB3AD}" destId="{52D73978-32CD-40BE-9B8F-42B65844871A}" srcOrd="0" destOrd="0" presId="urn:diagrams.loki3.com/BracketList"/>
    <dgm:cxn modelId="{42AC6020-2358-437D-9130-D789F392AE1B}" type="presParOf" srcId="{52D73978-32CD-40BE-9B8F-42B65844871A}" destId="{9DD0F420-12BA-4598-80A1-22F5C700AADF}" srcOrd="0" destOrd="0" presId="urn:diagrams.loki3.com/BracketList"/>
    <dgm:cxn modelId="{A10928E1-C5E1-4E5B-86C5-F188F1E572BA}" type="presParOf" srcId="{52D73978-32CD-40BE-9B8F-42B65844871A}" destId="{88B0842C-E18F-49C8-A26F-59C3D2DFA10A}" srcOrd="1" destOrd="0" presId="urn:diagrams.loki3.com/BracketList"/>
    <dgm:cxn modelId="{810876F4-EEA5-413D-A87C-8C5D9D6C8753}" type="presParOf" srcId="{52D73978-32CD-40BE-9B8F-42B65844871A}" destId="{B99E6CA0-DB7E-4DF2-8750-610828CA7E71}" srcOrd="2" destOrd="0" presId="urn:diagrams.loki3.com/BracketList"/>
    <dgm:cxn modelId="{C2B09A3E-F094-41CC-9B5B-AB01EBD0E8C5}" type="presParOf" srcId="{52D73978-32CD-40BE-9B8F-42B65844871A}" destId="{9447EB2E-01DB-438A-BEDC-9CD192E3A7CF}" srcOrd="3" destOrd="0" presId="urn:diagrams.loki3.com/BracketList"/>
    <dgm:cxn modelId="{7D02CD96-0F8C-4A17-B0A5-E52242F5FF98}" type="presParOf" srcId="{7E69FA9B-2C1D-4DEC-A653-8E4EBEEBB3AD}" destId="{B303686B-C1A9-46E5-96DC-8C4B397B0178}" srcOrd="1" destOrd="0" presId="urn:diagrams.loki3.com/BracketList"/>
    <dgm:cxn modelId="{883AF848-2CC7-4F56-8978-77A7F5C1CAAB}" type="presParOf" srcId="{7E69FA9B-2C1D-4DEC-A653-8E4EBEEBB3AD}" destId="{29223BFA-8EF8-4794-A3B5-8FBDEE263759}" srcOrd="2" destOrd="0" presId="urn:diagrams.loki3.com/BracketList"/>
    <dgm:cxn modelId="{72A541D4-31CE-418F-AF50-4B116EFE301A}" type="presParOf" srcId="{29223BFA-8EF8-4794-A3B5-8FBDEE263759}" destId="{2D639D2D-582C-4382-9831-1DF0479E9566}" srcOrd="0" destOrd="0" presId="urn:diagrams.loki3.com/BracketList"/>
    <dgm:cxn modelId="{E073D2A7-574A-41BE-B205-933DB039F9B1}" type="presParOf" srcId="{29223BFA-8EF8-4794-A3B5-8FBDEE263759}" destId="{C73C591F-58BD-42FD-80BA-A5809BF2A82E}" srcOrd="1" destOrd="0" presId="urn:diagrams.loki3.com/BracketList"/>
    <dgm:cxn modelId="{E5F9BDB8-A31B-48D7-91F6-9F45B8BE7317}" type="presParOf" srcId="{29223BFA-8EF8-4794-A3B5-8FBDEE263759}" destId="{E93AA8A7-39AF-470A-BD61-DC219C32942C}" srcOrd="2" destOrd="0" presId="urn:diagrams.loki3.com/BracketList"/>
    <dgm:cxn modelId="{8FAB3DF9-4A01-4071-B9FD-A3CBDA150408}" type="presParOf" srcId="{29223BFA-8EF8-4794-A3B5-8FBDEE263759}" destId="{9DD69603-33CE-4FD7-85AD-BA35E246FB9D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626586-2CB3-4F27-9804-82DDF5662874}" type="doc">
      <dgm:prSet loTypeId="urn:microsoft.com/office/officeart/2009/3/layout/OpposingIdea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3071AB7-F5E5-4F0C-B093-74E060AC8C27}">
      <dgm:prSet phldrT="[Text]" phldr="0"/>
      <dgm:spPr/>
      <dgm:t>
        <a:bodyPr/>
        <a:lstStyle/>
        <a:p>
          <a:endParaRPr lang="en-IN" dirty="0"/>
        </a:p>
      </dgm:t>
    </dgm:pt>
    <dgm:pt modelId="{8EF26F87-15C4-4A4D-867E-7DF149F1CCA8}" type="parTrans" cxnId="{B0F1C220-B06B-492A-956F-8048ACD114E0}">
      <dgm:prSet/>
      <dgm:spPr/>
      <dgm:t>
        <a:bodyPr/>
        <a:lstStyle/>
        <a:p>
          <a:endParaRPr lang="en-IN"/>
        </a:p>
      </dgm:t>
    </dgm:pt>
    <dgm:pt modelId="{45B9D5B2-DB66-4792-85E3-EEFD77BDA665}" type="sibTrans" cxnId="{B0F1C220-B06B-492A-956F-8048ACD114E0}">
      <dgm:prSet/>
      <dgm:spPr/>
      <dgm:t>
        <a:bodyPr/>
        <a:lstStyle/>
        <a:p>
          <a:endParaRPr lang="en-IN"/>
        </a:p>
      </dgm:t>
    </dgm:pt>
    <dgm:pt modelId="{CE687B6D-EB10-4099-8A74-3B62C44D92AE}">
      <dgm:prSet phldrT="[Text]" phldr="0"/>
      <dgm:spPr/>
      <dgm:t>
        <a:bodyPr/>
        <a:lstStyle/>
        <a:p>
          <a:r>
            <a:rPr lang="en-IN" dirty="0"/>
            <a:t>Cybersecurity awareness is the first step toward a safer digital world.</a:t>
          </a:r>
        </a:p>
      </dgm:t>
    </dgm:pt>
    <dgm:pt modelId="{37C16B37-1770-45B0-8664-375784089451}" type="parTrans" cxnId="{530BBF75-8FC0-4FFB-B451-ABF492A7F502}">
      <dgm:prSet/>
      <dgm:spPr/>
      <dgm:t>
        <a:bodyPr/>
        <a:lstStyle/>
        <a:p>
          <a:endParaRPr lang="en-IN"/>
        </a:p>
      </dgm:t>
    </dgm:pt>
    <dgm:pt modelId="{95DA1C7A-D698-4391-87B4-79A7AB0D919E}" type="sibTrans" cxnId="{530BBF75-8FC0-4FFB-B451-ABF492A7F502}">
      <dgm:prSet/>
      <dgm:spPr/>
      <dgm:t>
        <a:bodyPr/>
        <a:lstStyle/>
        <a:p>
          <a:endParaRPr lang="en-IN"/>
        </a:p>
      </dgm:t>
    </dgm:pt>
    <dgm:pt modelId="{F2A7AB46-06E1-4201-BBAC-D125EFEB0FEB}">
      <dgm:prSet phldrT="[Text]" phldr="0"/>
      <dgm:spPr/>
      <dgm:t>
        <a:bodyPr/>
        <a:lstStyle/>
        <a:p>
          <a:r>
            <a:rPr lang="en-IN" dirty="0"/>
            <a:t>~</a:t>
          </a:r>
        </a:p>
      </dgm:t>
    </dgm:pt>
    <dgm:pt modelId="{5BF4C20E-8AEA-4CB8-BD48-472E6FED1E8E}" type="parTrans" cxnId="{4E8CCB90-D046-4C56-BA8A-94BED3671B9B}">
      <dgm:prSet/>
      <dgm:spPr/>
      <dgm:t>
        <a:bodyPr/>
        <a:lstStyle/>
        <a:p>
          <a:endParaRPr lang="en-IN"/>
        </a:p>
      </dgm:t>
    </dgm:pt>
    <dgm:pt modelId="{AEB77736-0D43-4F29-A115-5DE8E798CBA6}" type="sibTrans" cxnId="{4E8CCB90-D046-4C56-BA8A-94BED3671B9B}">
      <dgm:prSet/>
      <dgm:spPr/>
      <dgm:t>
        <a:bodyPr/>
        <a:lstStyle/>
        <a:p>
          <a:endParaRPr lang="en-IN"/>
        </a:p>
      </dgm:t>
    </dgm:pt>
    <dgm:pt modelId="{4079AC74-98A3-4041-B187-9A5D9DC4A4A3}">
      <dgm:prSet phldrT="[Text]" phldr="0"/>
      <dgm:spPr/>
      <dgm:t>
        <a:bodyPr/>
        <a:lstStyle/>
        <a:p>
          <a:r>
            <a:rPr lang="en-IN" dirty="0"/>
            <a:t>Think before you click. Protect before you connect.</a:t>
          </a:r>
        </a:p>
      </dgm:t>
    </dgm:pt>
    <dgm:pt modelId="{65514DBE-2130-4857-A7E7-E754440A00E7}" type="parTrans" cxnId="{9ACCDA20-A1DF-486E-ACE4-3D2AC4A2813B}">
      <dgm:prSet/>
      <dgm:spPr/>
      <dgm:t>
        <a:bodyPr/>
        <a:lstStyle/>
        <a:p>
          <a:endParaRPr lang="en-IN"/>
        </a:p>
      </dgm:t>
    </dgm:pt>
    <dgm:pt modelId="{F3AD5585-A590-43B8-BE72-5E2ACC45FD2F}" type="sibTrans" cxnId="{9ACCDA20-A1DF-486E-ACE4-3D2AC4A2813B}">
      <dgm:prSet/>
      <dgm:spPr/>
      <dgm:t>
        <a:bodyPr/>
        <a:lstStyle/>
        <a:p>
          <a:endParaRPr lang="en-IN"/>
        </a:p>
      </dgm:t>
    </dgm:pt>
    <dgm:pt modelId="{BAE0D0FF-F924-480E-935C-2CDD10544CFC}" type="pres">
      <dgm:prSet presAssocID="{08626586-2CB3-4F27-9804-82DDF5662874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559D6423-771A-4F89-A09A-67934FD665A8}" type="pres">
      <dgm:prSet presAssocID="{08626586-2CB3-4F27-9804-82DDF5662874}" presName="Background" presStyleLbl="node1" presStyleIdx="0" presStyleCnt="1" custLinFactNeighborX="-12" custLinFactNeighborY="-1184"/>
      <dgm:spPr/>
    </dgm:pt>
    <dgm:pt modelId="{6DFA7D0D-71E8-4B22-8B25-BAFA0B44EED0}" type="pres">
      <dgm:prSet presAssocID="{08626586-2CB3-4F27-9804-82DDF5662874}" presName="Divider" presStyleLbl="callout" presStyleIdx="0" presStyleCnt="1"/>
      <dgm:spPr/>
    </dgm:pt>
    <dgm:pt modelId="{4B7BD6CF-C946-4024-B225-824CA0BBCC87}" type="pres">
      <dgm:prSet presAssocID="{08626586-2CB3-4F27-9804-82DDF5662874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75B4DA7-6765-4A8E-9E12-2A1444110596}" type="pres">
      <dgm:prSet presAssocID="{08626586-2CB3-4F27-9804-82DDF5662874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A3D4066-B307-4311-B1E3-BE916F228EA4}" type="pres">
      <dgm:prSet presAssocID="{08626586-2CB3-4F27-9804-82DDF5662874}" presName="ParentText1" presStyleLbl="revTx" presStyleIdx="0" presStyleCnt="0">
        <dgm:presLayoutVars>
          <dgm:chMax val="1"/>
          <dgm:chPref val="1"/>
        </dgm:presLayoutVars>
      </dgm:prSet>
      <dgm:spPr/>
    </dgm:pt>
    <dgm:pt modelId="{C662E753-5506-4EB7-8488-82585F76402A}" type="pres">
      <dgm:prSet presAssocID="{08626586-2CB3-4F27-9804-82DDF5662874}" presName="ParentShape1" presStyleLbl="alignImgPlace1" presStyleIdx="0" presStyleCnt="2">
        <dgm:presLayoutVars/>
      </dgm:prSet>
      <dgm:spPr/>
    </dgm:pt>
    <dgm:pt modelId="{87372FFE-3A6F-44E9-9006-DC1F8080FF13}" type="pres">
      <dgm:prSet presAssocID="{08626586-2CB3-4F27-9804-82DDF5662874}" presName="ParentText2" presStyleLbl="revTx" presStyleIdx="0" presStyleCnt="0">
        <dgm:presLayoutVars>
          <dgm:chMax val="1"/>
          <dgm:chPref val="1"/>
        </dgm:presLayoutVars>
      </dgm:prSet>
      <dgm:spPr/>
    </dgm:pt>
    <dgm:pt modelId="{4F5661C6-4FC8-4ACE-AB7B-DE32A0755FA7}" type="pres">
      <dgm:prSet presAssocID="{08626586-2CB3-4F27-9804-82DDF5662874}" presName="ParentShape2" presStyleLbl="alignImgPlace1" presStyleIdx="1" presStyleCnt="2">
        <dgm:presLayoutVars/>
      </dgm:prSet>
      <dgm:spPr/>
    </dgm:pt>
  </dgm:ptLst>
  <dgm:cxnLst>
    <dgm:cxn modelId="{B0F1C220-B06B-492A-956F-8048ACD114E0}" srcId="{08626586-2CB3-4F27-9804-82DDF5662874}" destId="{83071AB7-F5E5-4F0C-B093-74E060AC8C27}" srcOrd="0" destOrd="0" parTransId="{8EF26F87-15C4-4A4D-867E-7DF149F1CCA8}" sibTransId="{45B9D5B2-DB66-4792-85E3-EEFD77BDA665}"/>
    <dgm:cxn modelId="{9ACCDA20-A1DF-486E-ACE4-3D2AC4A2813B}" srcId="{F2A7AB46-06E1-4201-BBAC-D125EFEB0FEB}" destId="{4079AC74-98A3-4041-B187-9A5D9DC4A4A3}" srcOrd="0" destOrd="0" parTransId="{65514DBE-2130-4857-A7E7-E754440A00E7}" sibTransId="{F3AD5585-A590-43B8-BE72-5E2ACC45FD2F}"/>
    <dgm:cxn modelId="{EBBEDB60-C1F2-486C-B4C8-6025F650D4D6}" type="presOf" srcId="{83071AB7-F5E5-4F0C-B093-74E060AC8C27}" destId="{C662E753-5506-4EB7-8488-82585F76402A}" srcOrd="1" destOrd="0" presId="urn:microsoft.com/office/officeart/2009/3/layout/OpposingIdeas"/>
    <dgm:cxn modelId="{8AAA1A44-9269-4E0C-A1D0-356804355B1F}" type="presOf" srcId="{F2A7AB46-06E1-4201-BBAC-D125EFEB0FEB}" destId="{87372FFE-3A6F-44E9-9006-DC1F8080FF13}" srcOrd="0" destOrd="0" presId="urn:microsoft.com/office/officeart/2009/3/layout/OpposingIdeas"/>
    <dgm:cxn modelId="{530BBF75-8FC0-4FFB-B451-ABF492A7F502}" srcId="{83071AB7-F5E5-4F0C-B093-74E060AC8C27}" destId="{CE687B6D-EB10-4099-8A74-3B62C44D92AE}" srcOrd="0" destOrd="0" parTransId="{37C16B37-1770-45B0-8664-375784089451}" sibTransId="{95DA1C7A-D698-4391-87B4-79A7AB0D919E}"/>
    <dgm:cxn modelId="{4E8CCB90-D046-4C56-BA8A-94BED3671B9B}" srcId="{08626586-2CB3-4F27-9804-82DDF5662874}" destId="{F2A7AB46-06E1-4201-BBAC-D125EFEB0FEB}" srcOrd="1" destOrd="0" parTransId="{5BF4C20E-8AEA-4CB8-BD48-472E6FED1E8E}" sibTransId="{AEB77736-0D43-4F29-A115-5DE8E798CBA6}"/>
    <dgm:cxn modelId="{C20315C8-95B4-4C61-B47B-AE9E6B883DEF}" type="presOf" srcId="{4079AC74-98A3-4041-B187-9A5D9DC4A4A3}" destId="{375B4DA7-6765-4A8E-9E12-2A1444110596}" srcOrd="0" destOrd="0" presId="urn:microsoft.com/office/officeart/2009/3/layout/OpposingIdeas"/>
    <dgm:cxn modelId="{6C5DADDF-AE7F-48C4-A10C-53162C663C90}" type="presOf" srcId="{CE687B6D-EB10-4099-8A74-3B62C44D92AE}" destId="{4B7BD6CF-C946-4024-B225-824CA0BBCC87}" srcOrd="0" destOrd="0" presId="urn:microsoft.com/office/officeart/2009/3/layout/OpposingIdeas"/>
    <dgm:cxn modelId="{E2A9C1E5-10A0-40BC-945B-28BFB55734A4}" type="presOf" srcId="{F2A7AB46-06E1-4201-BBAC-D125EFEB0FEB}" destId="{4F5661C6-4FC8-4ACE-AB7B-DE32A0755FA7}" srcOrd="1" destOrd="0" presId="urn:microsoft.com/office/officeart/2009/3/layout/OpposingIdeas"/>
    <dgm:cxn modelId="{B6F2E3EB-A939-439D-8615-518D0C3931EE}" type="presOf" srcId="{08626586-2CB3-4F27-9804-82DDF5662874}" destId="{BAE0D0FF-F924-480E-935C-2CDD10544CFC}" srcOrd="0" destOrd="0" presId="urn:microsoft.com/office/officeart/2009/3/layout/OpposingIdeas"/>
    <dgm:cxn modelId="{BBBB72F1-0FD1-49F2-B083-6C12C001AE5F}" type="presOf" srcId="{83071AB7-F5E5-4F0C-B093-74E060AC8C27}" destId="{EA3D4066-B307-4311-B1E3-BE916F228EA4}" srcOrd="0" destOrd="0" presId="urn:microsoft.com/office/officeart/2009/3/layout/OpposingIdeas"/>
    <dgm:cxn modelId="{AB53BA34-0B42-4470-9418-97ADEADA4916}" type="presParOf" srcId="{BAE0D0FF-F924-480E-935C-2CDD10544CFC}" destId="{559D6423-771A-4F89-A09A-67934FD665A8}" srcOrd="0" destOrd="0" presId="urn:microsoft.com/office/officeart/2009/3/layout/OpposingIdeas"/>
    <dgm:cxn modelId="{490C02A1-3145-4DF1-A475-3EBDF7BD7E80}" type="presParOf" srcId="{BAE0D0FF-F924-480E-935C-2CDD10544CFC}" destId="{6DFA7D0D-71E8-4B22-8B25-BAFA0B44EED0}" srcOrd="1" destOrd="0" presId="urn:microsoft.com/office/officeart/2009/3/layout/OpposingIdeas"/>
    <dgm:cxn modelId="{C55E0CA8-5F98-47E6-953A-A6DC20315A45}" type="presParOf" srcId="{BAE0D0FF-F924-480E-935C-2CDD10544CFC}" destId="{4B7BD6CF-C946-4024-B225-824CA0BBCC87}" srcOrd="2" destOrd="0" presId="urn:microsoft.com/office/officeart/2009/3/layout/OpposingIdeas"/>
    <dgm:cxn modelId="{AEB31DE4-04A2-44AA-8E0D-A7642911DB15}" type="presParOf" srcId="{BAE0D0FF-F924-480E-935C-2CDD10544CFC}" destId="{375B4DA7-6765-4A8E-9E12-2A1444110596}" srcOrd="3" destOrd="0" presId="urn:microsoft.com/office/officeart/2009/3/layout/OpposingIdeas"/>
    <dgm:cxn modelId="{6BB6EF11-3C58-40E9-806D-A41749A7497C}" type="presParOf" srcId="{BAE0D0FF-F924-480E-935C-2CDD10544CFC}" destId="{EA3D4066-B307-4311-B1E3-BE916F228EA4}" srcOrd="4" destOrd="0" presId="urn:microsoft.com/office/officeart/2009/3/layout/OpposingIdeas"/>
    <dgm:cxn modelId="{1FDCFE69-9EA5-419E-88C3-8213C3FD76EC}" type="presParOf" srcId="{BAE0D0FF-F924-480E-935C-2CDD10544CFC}" destId="{C662E753-5506-4EB7-8488-82585F76402A}" srcOrd="5" destOrd="0" presId="urn:microsoft.com/office/officeart/2009/3/layout/OpposingIdeas"/>
    <dgm:cxn modelId="{9F409074-9ABD-468C-8AA8-F0DF808CC018}" type="presParOf" srcId="{BAE0D0FF-F924-480E-935C-2CDD10544CFC}" destId="{87372FFE-3A6F-44E9-9006-DC1F8080FF13}" srcOrd="6" destOrd="0" presId="urn:microsoft.com/office/officeart/2009/3/layout/OpposingIdeas"/>
    <dgm:cxn modelId="{7FFB3E3E-8589-4CF9-BC11-FEED8D2D3CF0}" type="presParOf" srcId="{BAE0D0FF-F924-480E-935C-2CDD10544CFC}" destId="{4F5661C6-4FC8-4ACE-AB7B-DE32A0755FA7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D0F420-12BA-4598-80A1-22F5C700AADF}">
      <dsp:nvSpPr>
        <dsp:cNvPr id="0" name=""/>
        <dsp:cNvSpPr/>
      </dsp:nvSpPr>
      <dsp:spPr>
        <a:xfrm>
          <a:off x="0" y="423740"/>
          <a:ext cx="2588418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165100" rIns="462280" bIns="165100" numCol="1" spcCol="1270" anchor="ctr" anchorCtr="0">
          <a:noAutofit/>
        </a:bodyPr>
        <a:lstStyle/>
        <a:p>
          <a:pPr marL="0" lvl="0" indent="0" algn="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500" kern="1200" dirty="0"/>
            <a:t>1</a:t>
          </a:r>
          <a:r>
            <a:rPr lang="en-IN" sz="6500" kern="1200" baseline="30000" dirty="0"/>
            <a:t>st</a:t>
          </a:r>
          <a:r>
            <a:rPr lang="en-IN" sz="6500" kern="1200" dirty="0"/>
            <a:t> </a:t>
          </a:r>
        </a:p>
      </dsp:txBody>
      <dsp:txXfrm>
        <a:off x="0" y="423740"/>
        <a:ext cx="2588418" cy="1287000"/>
      </dsp:txXfrm>
    </dsp:sp>
    <dsp:sp modelId="{88B0842C-E18F-49C8-A26F-59C3D2DFA10A}">
      <dsp:nvSpPr>
        <dsp:cNvPr id="0" name=""/>
        <dsp:cNvSpPr/>
      </dsp:nvSpPr>
      <dsp:spPr>
        <a:xfrm>
          <a:off x="2588418" y="423740"/>
          <a:ext cx="517683" cy="1287000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47EB2E-01DB-438A-BEDC-9CD192E3A7CF}">
      <dsp:nvSpPr>
        <dsp:cNvPr id="0" name=""/>
        <dsp:cNvSpPr/>
      </dsp:nvSpPr>
      <dsp:spPr>
        <a:xfrm>
          <a:off x="3062944" y="423740"/>
          <a:ext cx="7040499" cy="1287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Cybersecurity isn’t just an IT issue – it’s everyone’s responsibility.</a:t>
          </a:r>
        </a:p>
      </dsp:txBody>
      <dsp:txXfrm>
        <a:off x="3062944" y="423740"/>
        <a:ext cx="7040499" cy="1287000"/>
      </dsp:txXfrm>
    </dsp:sp>
    <dsp:sp modelId="{2D639D2D-582C-4382-9831-1DF0479E9566}">
      <dsp:nvSpPr>
        <dsp:cNvPr id="0" name=""/>
        <dsp:cNvSpPr/>
      </dsp:nvSpPr>
      <dsp:spPr>
        <a:xfrm>
          <a:off x="0" y="1964850"/>
          <a:ext cx="2588418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165100" rIns="462280" bIns="165100" numCol="1" spcCol="1270" anchor="ctr" anchorCtr="0">
          <a:noAutofit/>
        </a:bodyPr>
        <a:lstStyle/>
        <a:p>
          <a:pPr marL="0" lvl="0" indent="0" algn="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500" kern="1200" dirty="0"/>
            <a:t>2</a:t>
          </a:r>
          <a:r>
            <a:rPr lang="en-IN" sz="6500" kern="1200" baseline="30000" dirty="0"/>
            <a:t>nd</a:t>
          </a:r>
          <a:r>
            <a:rPr lang="en-IN" sz="6500" kern="1200" dirty="0"/>
            <a:t> </a:t>
          </a:r>
        </a:p>
      </dsp:txBody>
      <dsp:txXfrm>
        <a:off x="0" y="1964850"/>
        <a:ext cx="2588418" cy="1287000"/>
      </dsp:txXfrm>
    </dsp:sp>
    <dsp:sp modelId="{C73C591F-58BD-42FD-80BA-A5809BF2A82E}">
      <dsp:nvSpPr>
        <dsp:cNvPr id="0" name=""/>
        <dsp:cNvSpPr/>
      </dsp:nvSpPr>
      <dsp:spPr>
        <a:xfrm>
          <a:off x="2588418" y="1944740"/>
          <a:ext cx="517683" cy="1327218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D69603-33CE-4FD7-85AD-BA35E246FB9D}">
      <dsp:nvSpPr>
        <dsp:cNvPr id="0" name=""/>
        <dsp:cNvSpPr/>
      </dsp:nvSpPr>
      <dsp:spPr>
        <a:xfrm>
          <a:off x="3072589" y="1983588"/>
          <a:ext cx="7040499" cy="13272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By staying informed and alert, individuals can stop cyber threats before they spread. </a:t>
          </a:r>
          <a:r>
            <a:rPr lang="en-IN" sz="6600" kern="1200" dirty="0"/>
            <a:t> </a:t>
          </a:r>
        </a:p>
      </dsp:txBody>
      <dsp:txXfrm>
        <a:off x="3072589" y="1983588"/>
        <a:ext cx="7040499" cy="13272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9D6423-771A-4F89-A09A-67934FD665A8}">
      <dsp:nvSpPr>
        <dsp:cNvPr id="0" name=""/>
        <dsp:cNvSpPr/>
      </dsp:nvSpPr>
      <dsp:spPr>
        <a:xfrm>
          <a:off x="2908426" y="599389"/>
          <a:ext cx="4535732" cy="2439162"/>
        </a:xfrm>
        <a:prstGeom prst="round2DiagRect">
          <a:avLst>
            <a:gd name="adj1" fmla="val 0"/>
            <a:gd name="adj2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FA7D0D-71E8-4B22-8B25-BAFA0B44EED0}">
      <dsp:nvSpPr>
        <dsp:cNvPr id="0" name=""/>
        <dsp:cNvSpPr/>
      </dsp:nvSpPr>
      <dsp:spPr>
        <a:xfrm>
          <a:off x="5176837" y="886968"/>
          <a:ext cx="604" cy="1921764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BD6CF-C946-4024-B225-824CA0BBCC87}">
      <dsp:nvSpPr>
        <dsp:cNvPr id="0" name=""/>
        <dsp:cNvSpPr/>
      </dsp:nvSpPr>
      <dsp:spPr>
        <a:xfrm>
          <a:off x="3060162" y="813054"/>
          <a:ext cx="1965484" cy="2069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Cybersecurity awareness is the first step toward a safer digital world.</a:t>
          </a:r>
        </a:p>
      </dsp:txBody>
      <dsp:txXfrm>
        <a:off x="3060162" y="813054"/>
        <a:ext cx="1965484" cy="2069592"/>
      </dsp:txXfrm>
    </dsp:sp>
    <dsp:sp modelId="{375B4DA7-6765-4A8E-9E12-2A1444110596}">
      <dsp:nvSpPr>
        <dsp:cNvPr id="0" name=""/>
        <dsp:cNvSpPr/>
      </dsp:nvSpPr>
      <dsp:spPr>
        <a:xfrm>
          <a:off x="5328028" y="813054"/>
          <a:ext cx="1965484" cy="2069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Think before you click. Protect before you connect.</a:t>
          </a:r>
        </a:p>
      </dsp:txBody>
      <dsp:txXfrm>
        <a:off x="5328028" y="813054"/>
        <a:ext cx="1965484" cy="2069592"/>
      </dsp:txXfrm>
    </dsp:sp>
    <dsp:sp modelId="{C662E753-5506-4EB7-8488-82585F76402A}">
      <dsp:nvSpPr>
        <dsp:cNvPr id="0" name=""/>
        <dsp:cNvSpPr/>
      </dsp:nvSpPr>
      <dsp:spPr>
        <a:xfrm rot="16200000">
          <a:off x="1200541" y="952474"/>
          <a:ext cx="2660904" cy="755955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>
        <a:off x="1314792" y="1256356"/>
        <a:ext cx="2432402" cy="376693"/>
      </dsp:txXfrm>
    </dsp:sp>
    <dsp:sp modelId="{4F5661C6-4FC8-4ACE-AB7B-DE32A0755FA7}">
      <dsp:nvSpPr>
        <dsp:cNvPr id="0" name=""/>
        <dsp:cNvSpPr/>
      </dsp:nvSpPr>
      <dsp:spPr>
        <a:xfrm rot="5400000">
          <a:off x="6492229" y="1987270"/>
          <a:ext cx="2660904" cy="755955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~</a:t>
          </a:r>
        </a:p>
      </dsp:txBody>
      <dsp:txXfrm>
        <a:off x="6606480" y="2062650"/>
        <a:ext cx="2432402" cy="376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30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413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15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81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792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788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28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297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7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86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2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7179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128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23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89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471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37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9764-399A-48AF-A665-645A6046E2E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E8F9B-92AB-4A1A-A53D-FDB138D94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55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cherlund.blogspot.com/2020/01/the-role-of-ai-and-machine-learning-in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hanetilton.com/cybersecurity-and-you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ustry-of-things.de/16-security-loesungen-fuer-eine-sichere-industrie-a-707156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A5F84D-917F-6A57-7B8D-58B58B09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57199"/>
            <a:ext cx="3935413" cy="2079523"/>
          </a:xfrm>
        </p:spPr>
        <p:txBody>
          <a:bodyPr>
            <a:normAutofit fontScale="90000"/>
          </a:bodyPr>
          <a:lstStyle/>
          <a:p>
            <a:r>
              <a:rPr lang="en-IN" b="1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CYBERSECURITY </a:t>
            </a:r>
            <a:br>
              <a:rPr lang="en-IN" b="1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IN" b="1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AWARENESS-stay safe in the digital world</a:t>
            </a: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BBD174F-6CC0-0626-FED1-6FC611821EF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307" r="14307"/>
          <a:stretch/>
        </p:blipFill>
        <p:spPr>
          <a:xfrm>
            <a:off x="5202438" y="457201"/>
            <a:ext cx="6172200" cy="540385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068F45-72B6-F970-23CC-36DDE6FC5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23536"/>
            <a:ext cx="3932237" cy="3145452"/>
          </a:xfrm>
        </p:spPr>
        <p:txBody>
          <a:bodyPr>
            <a:normAutofit fontScale="77500" lnSpcReduction="20000"/>
          </a:bodyPr>
          <a:lstStyle/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  <a:p>
            <a:r>
              <a:rPr lang="en-IN" sz="3200" dirty="0">
                <a:solidFill>
                  <a:schemeClr val="tx2">
                    <a:lumMod val="90000"/>
                  </a:schemeClr>
                </a:solidFill>
              </a:rPr>
              <a:t>Presented by- Manveer Kaur &amp;  </a:t>
            </a:r>
            <a:r>
              <a:rPr lang="en-IN" sz="3200" dirty="0" err="1">
                <a:solidFill>
                  <a:schemeClr val="tx2">
                    <a:lumMod val="90000"/>
                  </a:schemeClr>
                </a:solidFill>
              </a:rPr>
              <a:t>Harshpreet</a:t>
            </a:r>
            <a:r>
              <a:rPr lang="en-IN" sz="3200" dirty="0">
                <a:solidFill>
                  <a:schemeClr val="tx2">
                    <a:lumMod val="90000"/>
                  </a:schemeClr>
                </a:solidFill>
              </a:rPr>
              <a:t> Singh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21567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3A88E9-672C-64BE-77E8-F129A53CA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Introduction to cybersecurity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4D0C90-22BC-BB36-4B8D-B9A15917BC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Cybersecurity is </a:t>
            </a:r>
            <a:r>
              <a:rPr lang="en-US" dirty="0"/>
              <a:t>the practice of protecting systems, networks, and data from digital attacks that aim to steal, alter, or destroy sensitive information or disrupt normal business operations</a:t>
            </a:r>
            <a:r>
              <a:rPr lang="en-US" dirty="0">
                <a:effectLst/>
              </a:rPr>
              <a:t>. </a:t>
            </a:r>
          </a:p>
          <a:p>
            <a:r>
              <a:rPr lang="en-US" dirty="0">
                <a:effectLst/>
              </a:rPr>
              <a:t>As technology advances, so do cyber threats-making awareness essential for everyone.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F6FF3F9-FDA7-C45E-E706-F19E989F52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30297" y="2087563"/>
            <a:ext cx="4142453" cy="3703637"/>
          </a:xfrm>
        </p:spPr>
      </p:pic>
    </p:spTree>
    <p:extLst>
      <p:ext uri="{BB962C8B-B14F-4D97-AF65-F5344CB8AC3E}">
        <p14:creationId xmlns:p14="http://schemas.microsoft.com/office/powerpoint/2010/main" val="39938856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06E7-593D-E700-4D44-79D74E2C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  <a:latin typeface="Goudy Old Style" panose="02020502050305020303" pitchFamily="18" charset="0"/>
              </a:rPr>
              <a:t>Importance of cybersecurity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E5E6C-6689-4A04-70D4-7F0A37368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9793534" cy="3702881"/>
          </a:xfrm>
        </p:spPr>
        <p:txBody>
          <a:bodyPr>
            <a:normAutofit/>
          </a:bodyPr>
          <a:lstStyle/>
          <a:p>
            <a:r>
              <a:rPr lang="en-IN" sz="2800" dirty="0"/>
              <a:t>Protects personal and financial data</a:t>
            </a:r>
          </a:p>
          <a:p>
            <a:r>
              <a:rPr lang="en-IN" sz="2800" dirty="0"/>
              <a:t>Prevents identify theft </a:t>
            </a:r>
          </a:p>
          <a:p>
            <a:r>
              <a:rPr lang="en-IN" sz="2800" dirty="0"/>
              <a:t>Secures organizational information</a:t>
            </a:r>
          </a:p>
          <a:p>
            <a:r>
              <a:rPr lang="en-IN" sz="2800" dirty="0"/>
              <a:t>Builds trust in online services</a:t>
            </a:r>
          </a:p>
          <a:p>
            <a:r>
              <a:rPr lang="en-IN" sz="2800" dirty="0"/>
              <a:t>Ensures safe digital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0553910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368240-479D-3679-04E9-C805B9205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  <a:latin typeface="Bell MT" panose="02020503060305020303" pitchFamily="18" charset="0"/>
              </a:rPr>
              <a:t>Common cyber threats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06FB88-FE47-AA4C-B16F-2FD512CDB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u="sng" dirty="0"/>
              <a:t>Malware:</a:t>
            </a:r>
            <a:r>
              <a:rPr lang="en-US" dirty="0"/>
              <a:t> Malicious software such as viruses, worms, and spyware designed to damage or gain unauthorized access to a computer system.</a:t>
            </a:r>
          </a:p>
          <a:p>
            <a:r>
              <a:rPr lang="en-US" b="1" u="sng" dirty="0"/>
              <a:t>Ransomware: </a:t>
            </a:r>
            <a:r>
              <a:rPr lang="en-US" dirty="0"/>
              <a:t>A type of malware that encrypts a victim's files, demanding a ransom for the decryption key.</a:t>
            </a:r>
          </a:p>
          <a:p>
            <a:r>
              <a:rPr lang="en-US" b="1" u="sng" dirty="0"/>
              <a:t>Phishing:</a:t>
            </a:r>
            <a:r>
              <a:rPr lang="en-US" dirty="0"/>
              <a:t> Deceptive attempts to trick individuals into revealing sensitive information, often through fake emails or websites.</a:t>
            </a:r>
          </a:p>
          <a:p>
            <a:r>
              <a:rPr lang="en-US" b="1" u="sng" dirty="0"/>
              <a:t>Social Engineering: </a:t>
            </a:r>
            <a:r>
              <a:rPr lang="en-US" dirty="0"/>
              <a:t>Manipulating people to perform actions or divulge confidential information.</a:t>
            </a:r>
          </a:p>
          <a:p>
            <a:r>
              <a:rPr lang="en-US" b="1" u="sng" dirty="0"/>
              <a:t>DDoS Attacks:</a:t>
            </a:r>
            <a:r>
              <a:rPr lang="en-US" dirty="0"/>
              <a:t> Overwhelming a system with a flood of internet traffic to make it unavailable to its intended users.</a:t>
            </a:r>
          </a:p>
        </p:txBody>
      </p:sp>
    </p:spTree>
    <p:extLst>
      <p:ext uri="{BB962C8B-B14F-4D97-AF65-F5344CB8AC3E}">
        <p14:creationId xmlns:p14="http://schemas.microsoft.com/office/powerpoint/2010/main" val="57107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46784-84EE-24EC-2662-B1003E68D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865239"/>
            <a:ext cx="10353762" cy="4925961"/>
          </a:xfrm>
        </p:spPr>
        <p:txBody>
          <a:bodyPr>
            <a:normAutofit/>
          </a:bodyPr>
          <a:lstStyle/>
          <a:p>
            <a:r>
              <a:rPr lang="en-US" b="1" u="sng" dirty="0"/>
              <a:t>Insider Threats: </a:t>
            </a:r>
            <a:r>
              <a:rPr lang="en-US" dirty="0"/>
              <a:t>Malicious actions or negligence by current or former employees, contractors, or partners.</a:t>
            </a:r>
          </a:p>
          <a:p>
            <a:r>
              <a:rPr lang="en-US" b="1" u="sng" dirty="0"/>
              <a:t>Credential Theft</a:t>
            </a:r>
            <a:r>
              <a:rPr lang="en-US" dirty="0"/>
              <a:t>: Stealing usernames and passwords to gain unauthorized access to accounts.</a:t>
            </a:r>
          </a:p>
          <a:p>
            <a:r>
              <a:rPr lang="en-US" b="1" u="sng" dirty="0"/>
              <a:t>Zero-Day Exploits: </a:t>
            </a:r>
            <a:r>
              <a:rPr lang="en-US" dirty="0"/>
              <a:t>Attacks that take advantage of a vulnerability in software before the developers are aware of it.</a:t>
            </a:r>
          </a:p>
          <a:p>
            <a:r>
              <a:rPr lang="en-US" b="1" u="sng" dirty="0"/>
              <a:t>Man-in-the-Middle (MitM) Attacks: </a:t>
            </a:r>
            <a:r>
              <a:rPr lang="en-US" dirty="0"/>
              <a:t>An attacker secretly relays and possibly alters the communication between two parties who believe they are communicating directly with each other.</a:t>
            </a:r>
          </a:p>
          <a:p>
            <a:r>
              <a:rPr lang="en-US" b="1" u="sng" dirty="0"/>
              <a:t>AI Attacks: </a:t>
            </a:r>
            <a:r>
              <a:rPr lang="en-US" dirty="0"/>
              <a:t>Leveraging artificial intelligence to carry out more sophisticated and targeted attacks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773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E5DD-0281-55B0-D509-E8C90AECD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0" dirty="0">
                <a:effectLst/>
              </a:rPr>
              <a:t>A graph of Indian cyber attacks over the last five years would show a significant increase, with the number of incidents rising from 2020 to 2024</a:t>
            </a:r>
            <a:endParaRPr lang="en-IN" sz="24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1DB9E2B-7687-E2ED-2A9C-BAD9B1ABC2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2338901"/>
              </p:ext>
            </p:extLst>
          </p:nvPr>
        </p:nvGraphicFramePr>
        <p:xfrm>
          <a:off x="914400" y="2095500"/>
          <a:ext cx="10353675" cy="3695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9753137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E750-37CD-11FF-CC70-91F3BD76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Signs of a cyber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5C4BB-68BC-D2B4-E3C4-3155535B8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effectLst/>
              </a:rPr>
              <a:t>Performance Issues:</a:t>
            </a:r>
            <a:r>
              <a:rPr lang="en-US" dirty="0">
                <a:effectLst/>
              </a:rPr>
              <a:t> Your device is suddenly slow, frequently crashing, or unexpectedly restarting.</a:t>
            </a:r>
          </a:p>
          <a:p>
            <a:r>
              <a:rPr lang="en-US" b="1" dirty="0">
                <a:effectLst/>
              </a:rPr>
              <a:t>Unknown Software/Files:</a:t>
            </a:r>
            <a:r>
              <a:rPr lang="en-US" dirty="0">
                <a:effectLst/>
              </a:rPr>
              <a:t> New programs, applications, toolbars, or files appear that you didn't install or download.</a:t>
            </a:r>
          </a:p>
          <a:p>
            <a:r>
              <a:rPr lang="en-US" b="1" dirty="0">
                <a:effectLst/>
              </a:rPr>
              <a:t>Pop-ups &amp; Redirects:</a:t>
            </a:r>
            <a:r>
              <a:rPr lang="en-US" dirty="0">
                <a:effectLst/>
              </a:rPr>
              <a:t> An increase in pop-up ads or your browser redirecting you to unfamiliar or suspicious websites.</a:t>
            </a:r>
          </a:p>
          <a:p>
            <a:r>
              <a:rPr lang="en-US" b="1" dirty="0">
                <a:effectLst/>
              </a:rPr>
              <a:t>Disabled Security:</a:t>
            </a:r>
            <a:r>
              <a:rPr lang="en-US" dirty="0">
                <a:effectLst/>
              </a:rPr>
              <a:t> Your antivirus or firewall software is inexplicably turned off or not working correctly.</a:t>
            </a:r>
          </a:p>
          <a:p>
            <a:r>
              <a:rPr lang="en-US" b="1" dirty="0">
                <a:effectLst/>
              </a:rPr>
              <a:t>Hardware Anomalies:</a:t>
            </a:r>
            <a:r>
              <a:rPr lang="en-US" dirty="0">
                <a:effectLst/>
              </a:rPr>
              <a:t> Your camera or microphone indicator light is on when not in use, or your battery is draining much faster than usual.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9030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713D-97D7-AFF6-C0AD-4B96DB3E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Cybersecurity best practices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DEC9C2-B333-2F6C-5161-BA44AA6CD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FOR USERS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ffectLst/>
              </a:rPr>
              <a:t>Use strong, unique passwords:</a:t>
            </a:r>
            <a:r>
              <a:rPr lang="en-US" dirty="0">
                <a:effectLst/>
              </a:rPr>
              <a:t> Create long, complex passwords with a mix of letters, numbers, and symbols for each account. Use a password manager to help generate and store them securely.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ffectLst/>
              </a:rPr>
              <a:t>Enable multi-factor authentication (MFA):</a:t>
            </a:r>
            <a:r>
              <a:rPr lang="en-US" dirty="0">
                <a:effectLst/>
              </a:rPr>
              <a:t> This adds an extra layer of security by requiring more than just a password to log in.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993941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CCBE1-437F-F5D1-7DDC-2671077CF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885524"/>
            <a:ext cx="10353762" cy="4905676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effectLst/>
              </a:rPr>
              <a:t>FOR BUSINESS AND ORGANIZATIONS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ffectLst/>
              </a:rPr>
              <a:t>Implement strong password and MFA policies:</a:t>
            </a:r>
            <a:r>
              <a:rPr lang="en-US" dirty="0">
                <a:effectLst/>
              </a:rPr>
              <a:t> Enforce strong password requirements and mandate multi-factor authentication for all users.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ffectLst/>
              </a:rPr>
              <a:t>Secure your network:</a:t>
            </a:r>
            <a:r>
              <a:rPr lang="en-US" dirty="0">
                <a:effectLst/>
              </a:rPr>
              <a:t> Use firewalls and Virtual Private Networks (VPNs) to protect your network and secure data in transit.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ffectLst/>
              </a:rPr>
              <a:t>Secure endpoints:</a:t>
            </a:r>
            <a:r>
              <a:rPr lang="en-US" dirty="0">
                <a:effectLst/>
              </a:rPr>
              <a:t> Implement security measures for all devices that connect to the network, including laptops, tablets, and IoT devices.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156280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EBFA-001D-9B52-2F15-3ED041C8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bg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CYBER HYGIENE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D7992-0ED4-9880-7BF7-97C974DED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Lock your device when not in use</a:t>
            </a:r>
          </a:p>
          <a:p>
            <a:r>
              <a:rPr lang="en-IN" sz="2400" dirty="0"/>
              <a:t>Use secure websites(https://)</a:t>
            </a:r>
          </a:p>
          <a:p>
            <a:r>
              <a:rPr lang="en-IN" sz="2400" dirty="0"/>
              <a:t>Regularly change passwords</a:t>
            </a:r>
          </a:p>
          <a:p>
            <a:r>
              <a:rPr lang="en-IN" sz="2400" dirty="0"/>
              <a:t>Install firewalls and trusted security apps </a:t>
            </a:r>
          </a:p>
          <a:p>
            <a:r>
              <a:rPr lang="en-IN" sz="2400" dirty="0"/>
              <a:t>Educate yourself </a:t>
            </a:r>
            <a:r>
              <a:rPr lang="en-IN" sz="2400" dirty="0" err="1"/>
              <a:t>ans</a:t>
            </a:r>
            <a:r>
              <a:rPr lang="en-IN" sz="2400" dirty="0"/>
              <a:t> others about cyber safety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0962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7501-EE90-EBEF-0E76-979A0EAC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Cyber laws in </a:t>
            </a:r>
            <a:r>
              <a:rPr lang="en-IN" sz="3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india</a:t>
            </a:r>
            <a:r>
              <a:rPr lang="en-IN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CDC8C-197C-3847-21B7-3FEECC694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Information technology Act, 2000 – main law governing cybercrimes </a:t>
            </a:r>
          </a:p>
          <a:p>
            <a:r>
              <a:rPr lang="en-IN" sz="2400" dirty="0"/>
              <a:t>Covers offenses like: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000" dirty="0"/>
              <a:t>Identity theft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000" dirty="0"/>
              <a:t>Cyber fraud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000" dirty="0"/>
              <a:t>Data theft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000" dirty="0"/>
              <a:t>Online defamation</a:t>
            </a:r>
          </a:p>
          <a:p>
            <a:r>
              <a:rPr lang="en-IN" sz="2400" dirty="0"/>
              <a:t>Enforced by CERT-In(Indian Computer Emergency Response Team)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974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C226B-9EB7-3089-436C-FF4E2E90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Real-life cybercrime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DD75F-0CB1-5FC8-CAF8-A0A71EC8C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-2017: WannaCry Ransomware Attack - affected 200,000 computers worldwide </a:t>
            </a:r>
          </a:p>
          <a:p>
            <a:endParaRPr lang="en-IN" dirty="0"/>
          </a:p>
          <a:p>
            <a:r>
              <a:rPr lang="en-IN" dirty="0"/>
              <a:t>-2021: Facebook Data Leak – 500 million user records exposed</a:t>
            </a:r>
          </a:p>
          <a:p>
            <a:endParaRPr lang="en-IN" dirty="0"/>
          </a:p>
          <a:p>
            <a:r>
              <a:rPr lang="en-IN" dirty="0"/>
              <a:t>-2023: Indian AI Scam Calls – impersonating officials for money theft </a:t>
            </a:r>
          </a:p>
        </p:txBody>
      </p:sp>
    </p:spTree>
    <p:extLst>
      <p:ext uri="{BB962C8B-B14F-4D97-AF65-F5344CB8AC3E}">
        <p14:creationId xmlns:p14="http://schemas.microsoft.com/office/powerpoint/2010/main" val="2568398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991A7-734B-6E96-C5D1-C0FF83087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Role of individuals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98A4869-79EE-20C3-8963-CC66C53843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807077"/>
              </p:ext>
            </p:extLst>
          </p:nvPr>
        </p:nvGraphicFramePr>
        <p:xfrm>
          <a:off x="914400" y="2095500"/>
          <a:ext cx="10353675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2510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9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C95EC-2933-CFF3-F0E5-0CAC08A5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Conclusion</a:t>
            </a:r>
            <a:r>
              <a:rPr lang="en-IN" dirty="0"/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8A8FD1-6343-CCD4-03E0-A0B0DDE21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0991747"/>
              </p:ext>
            </p:extLst>
          </p:nvPr>
        </p:nvGraphicFramePr>
        <p:xfrm>
          <a:off x="914400" y="2095500"/>
          <a:ext cx="10353675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1220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0A29-6F95-DB9A-A8FF-21A6C681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“Awareness is the first step to prevention. Be smart. Be cyber safe.”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950EC5-4359-0117-5556-CDDBA5DD1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81237" y="2213811"/>
            <a:ext cx="7620000" cy="3888606"/>
          </a:xfrm>
        </p:spPr>
      </p:pic>
    </p:spTree>
    <p:extLst>
      <p:ext uri="{BB962C8B-B14F-4D97-AF65-F5344CB8AC3E}">
        <p14:creationId xmlns:p14="http://schemas.microsoft.com/office/powerpoint/2010/main" val="2541432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144</TotalTime>
  <Words>730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Algerian</vt:lpstr>
      <vt:lpstr>Arial</vt:lpstr>
      <vt:lpstr>Baskerville Old Face</vt:lpstr>
      <vt:lpstr>Bell MT</vt:lpstr>
      <vt:lpstr>Bookman Old Style</vt:lpstr>
      <vt:lpstr>Goudy Old Style</vt:lpstr>
      <vt:lpstr>Rockwell</vt:lpstr>
      <vt:lpstr>Wingdings</vt:lpstr>
      <vt:lpstr>Damask</vt:lpstr>
      <vt:lpstr>CYBERSECURITY  AWARENESS-stay safe in the digital world</vt:lpstr>
      <vt:lpstr>Introduction to cybersecurity</vt:lpstr>
      <vt:lpstr>Importance of cybersecurity</vt:lpstr>
      <vt:lpstr>Common cyber threats</vt:lpstr>
      <vt:lpstr>PowerPoint Presentation</vt:lpstr>
      <vt:lpstr>A graph of Indian cyber attacks over the last five years would show a significant increase, with the number of incidents rising from 2020 to 2024</vt:lpstr>
      <vt:lpstr>Signs of a cyber attack</vt:lpstr>
      <vt:lpstr>Cybersecurity best practices</vt:lpstr>
      <vt:lpstr>PowerPoint Presentation</vt:lpstr>
      <vt:lpstr>CYBER HYGIENE TIPS</vt:lpstr>
      <vt:lpstr>Cyber laws in india </vt:lpstr>
      <vt:lpstr>Real-life cybercrime examples </vt:lpstr>
      <vt:lpstr>Role of individuals</vt:lpstr>
      <vt:lpstr>Conclusion </vt:lpstr>
      <vt:lpstr>“Awareness is the first step to prevention. Be smart. Be cyber safe.”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Charandeep Singh</dc:creator>
  <cp:lastModifiedBy>Charandeep Singh</cp:lastModifiedBy>
  <cp:revision>1</cp:revision>
  <dcterms:created xsi:type="dcterms:W3CDTF">2025-11-05T13:39:06Z</dcterms:created>
  <dcterms:modified xsi:type="dcterms:W3CDTF">2025-11-05T16:03:56Z</dcterms:modified>
</cp:coreProperties>
</file>